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inrange.nl" TargetMode="External"/><Relationship Id="rId4" Type="http://schemas.openxmlformats.org/officeDocument/2006/relationships/hyperlink" Target="https://inrange.nl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mailto:info@inrange.nl" TargetMode="External"/><Relationship Id="rId2" Type="http://schemas.openxmlformats.org/officeDocument/2006/relationships/hyperlink" Target="tel:+31648446063" TargetMode="External"/><Relationship Id="rId4" Type="http://schemas.openxmlformats.org/officeDocument/2006/relationships/hyperlink" Target="https://inrange.nl" TargetMode="External"/><Relationship Id="rId5" Type="http://schemas.openxmlformats.org/officeDocument/2006/relationships/hyperlink" Target="https://inrange.nl" TargetMode="External"/><Relationship Id="rId3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371600"/>
            <a:ext cx="5486400" cy="5486400"/>
          </a:xfrm>
          <a:prstGeom prst="ellipse">
            <a:avLst/>
          </a:prstGeom>
          <a:solidFill>
            <a:srgbClr val="1FA84A">
              <a:alpha val="12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2895" y="3657600"/>
            <a:ext cx="3200400" cy="3200400"/>
          </a:xfrm>
          <a:prstGeom prst="ellipse">
            <a:avLst/>
          </a:prstGeom>
          <a:solidFill>
            <a:srgbClr val="1FA84A">
              <a:alpha val="6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65615" y="1097280"/>
            <a:ext cx="2194560" cy="2194560"/>
          </a:xfrm>
          <a:prstGeom prst="ellipse">
            <a:avLst/>
          </a:prstGeom>
          <a:solidFill>
            <a:srgbClr val="0D1B2D">
              <a:alpha val="0"/>
            </a:srgbClr>
          </a:solidFill>
          <a:ln w="9525">
            <a:solidFill>
              <a:srgbClr val="D6DEE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86384"/>
            <a:ext cx="128016" cy="128016"/>
          </a:xfrm>
          <a:prstGeom prst="ellipse">
            <a:avLst/>
          </a:prstGeom>
          <a:solidFill>
            <a:srgbClr val="3FBB65"/>
          </a:solidFill>
          <a:ln w="12700">
            <a:solidFill>
              <a:srgbClr val="3FBB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6949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TRANSFER PRICING · AMSTERDAM</a:t>
            </a:r>
            <a:endParaRPr lang="en-US" sz="1100" dirty="0"/>
          </a:p>
        </p:txBody>
      </p:sp>
      <p:pic>
        <p:nvPicPr>
          <p:cNvPr id="7" name="Image 0" descr="C:\Vibecoding\inRange website\deck\assets\logo-white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2466744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5176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trusted</a:t>
            </a:r>
            <a:endParaRPr lang="en-US" sz="7200" dirty="0"/>
          </a:p>
          <a:p>
            <a:pPr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transfer pricing </a:t>
            </a:r>
            <a:pPr indent="0" marL="0">
              <a:buNone/>
            </a:pPr>
            <a:r>
              <a:rPr lang="en-US" sz="7200" b="1" spc="-200" kern="0" dirty="0">
                <a:solidFill>
                  <a:srgbClr val="3FBB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partner.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640080" y="5029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Capability deck — 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5440680"/>
            <a:ext cx="1097280" cy="36576"/>
          </a:xfrm>
          <a:prstGeom prst="rect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52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 Solutions B.V.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Netherlands</a:t>
            </a:r>
            <a:endParaRPr lang="en-US" sz="1100" dirty="0"/>
          </a:p>
        </p:txBody>
      </p:sp>
      <p:pic>
        <p:nvPicPr>
          <p:cNvPr id="13" name="Image 1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5440680"/>
            <a:ext cx="1097280" cy="10972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997135" y="6537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Scan for full site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-1828800"/>
            <a:ext cx="4572000" cy="4572000"/>
          </a:xfrm>
          <a:prstGeom prst="ellipse">
            <a:avLst/>
          </a:prstGeom>
          <a:solidFill>
            <a:srgbClr val="1FA84A">
              <a:alpha val="4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ABOUT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Transfer pricing expertise,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-5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combined with market-leading technology.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822960" cy="36576"/>
          </a:xfrm>
          <a:prstGeom prst="rect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Our mission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 inRange, we combine Transfer Pricing expertise with market-leading technology and a passion for serving clients. Our experts have decades of experience gained at leading global consulting firms and multinational companies — and apply it to develop practical, sustainable solutions for your group.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sets us apart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1206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Senior-led — partner-calibre advice on every engagement.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AI-enabled delivery — documentation and research up to 60% faster.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Independent — TP-only focus, no cross-sell conflicts.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Materially better value than Big-Four engagements.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66560" y="2880360"/>
            <a:ext cx="4754880" cy="3611880"/>
          </a:xfrm>
          <a:prstGeom prst="roundRect">
            <a:avLst>
              <a:gd name="adj" fmla="val 5063"/>
            </a:avLst>
          </a:prstGeom>
          <a:solidFill>
            <a:srgbClr val="F7F8FA"/>
          </a:solidFill>
          <a:ln w="12700">
            <a:solidFill>
              <a:srgbClr val="DEE2E8"/>
            </a:solidFill>
            <a:prstDash val="solid"/>
          </a:ln>
        </p:spPr>
      </p:sp>
      <p:pic>
        <p:nvPicPr>
          <p:cNvPr id="11" name="Image 0" descr="C:\Vibecoding\inRange website\deck\assets\fou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3337560"/>
            <a:ext cx="1463040" cy="1463040"/>
          </a:xfrm>
          <a:prstGeom prst="ellipse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223760" y="333756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 Founder name ]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6968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Founder · Managing Partner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69680" y="4206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15+ yrs · Amsterdam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23760" y="50292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 Short bio — prior firms, focus areas, typical engagements. Replace this placeholder before sending. ]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  ·  Your trusted transfer pricing partner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OUR SERVICES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Six ways we help.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focused Transfer Pricing practice. Every engagement led by a senior specialist; every deliverable reviewed at partner level.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84778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108960"/>
            <a:ext cx="457200" cy="457200"/>
          </a:xfrm>
          <a:prstGeom prst="ellipse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-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3127248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Planning → implementation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363931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Transfer Pricing Advice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4023360"/>
            <a:ext cx="28446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Expert guidance on all aspects of TP, ensuring your intercompany set-up is at arm's length.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53458" y="2834640"/>
            <a:ext cx="3484778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3498" y="3108960"/>
            <a:ext cx="457200" cy="457200"/>
          </a:xfrm>
          <a:prstGeom prst="ellipse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349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-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67858" y="3127248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Master file · Local files · CbCR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73498" y="363931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TP Documentation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73498" y="4023360"/>
            <a:ext cx="28446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Stay compliant worldwide — we prepare, update and review your Master file, Local files and CbCR.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66837" y="2834640"/>
            <a:ext cx="3484778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6877" y="3108960"/>
            <a:ext cx="457200" cy="457200"/>
          </a:xfrm>
          <a:prstGeom prst="ellipse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6877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-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81237" y="3127248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Tax audits &amp; controversy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86877" y="363931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 Support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86877" y="4023360"/>
            <a:ext cx="28446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Safeguard your business during TP examinations — early-stage support, strategic defence, favourable outcomes.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3484778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" y="5029200"/>
            <a:ext cx="457200" cy="457200"/>
          </a:xfrm>
          <a:prstGeom prst="ellipse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-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5047488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Peak-workload support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0120" y="555955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Interim Placements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60120" y="5943600"/>
            <a:ext cx="28446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Experienced TP specialists embedded inside your team during peak workload periods.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53458" y="4754880"/>
            <a:ext cx="3484778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73498" y="5029200"/>
            <a:ext cx="457200" cy="457200"/>
          </a:xfrm>
          <a:prstGeom prst="ellipse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73498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-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67858" y="5047488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Financial &amp; non-financial data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73498" y="555955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Economic Analyses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673498" y="5943600"/>
            <a:ext cx="28446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Expert support analysing financial and non-financial data for Transfer Pricing purposes.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66837" y="4754880"/>
            <a:ext cx="3484778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86877" y="5029200"/>
            <a:ext cx="457200" cy="457200"/>
          </a:xfrm>
          <a:prstGeom prst="ellipse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86877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-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81237" y="5047488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Intercompany contracts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86877" y="5559552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Legal Agreements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386877" y="5943600"/>
            <a:ext cx="28446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Prepare or refresh the legal agreements supporting your intercompany transactions.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  ·  Your trusted transfer pricing partner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1FA84A">
              <a:alpha val="4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5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predictable path from scope to sign-off.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engagement runs on the same four-stage cadence — led end-to-end by a senior specialist, with AI-enabled tooling handling the mechanical work so yours gets the considered thought.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901152" y="3447288"/>
            <a:ext cx="8389391" cy="10973"/>
          </a:xfrm>
          <a:prstGeom prst="rect">
            <a:avLst/>
          </a:prstGeom>
          <a:solidFill>
            <a:srgbClr val="DEE2E8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2532" y="3063240"/>
            <a:ext cx="777240" cy="777240"/>
          </a:xfrm>
          <a:prstGeom prst="ellipse">
            <a:avLst/>
          </a:prstGeom>
          <a:solidFill>
            <a:srgbClr val="0D1B2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2532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252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252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5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Scope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2522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Discovery call, review of your group structure and intercompany flows, agreement on deliverables and fee.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6080760"/>
            <a:ext cx="1010412" cy="320040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6080760"/>
            <a:ext cx="10104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Fixed fee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41932" y="608076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41932" y="6080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Senior-led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08996" y="3063240"/>
            <a:ext cx="777240" cy="777240"/>
          </a:xfrm>
          <a:prstGeom prst="ellipse">
            <a:avLst/>
          </a:prstGeom>
          <a:solidFill>
            <a:srgbClr val="0D1B2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8996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36544" y="4023360"/>
            <a:ext cx="252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WEEKS 2–4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36544" y="4297680"/>
            <a:ext cx="252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5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Analyse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36544" y="4800600"/>
            <a:ext cx="2522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Functional analysis, economic analyses and benchmarking — AI-accelerated research, human judgement on method and comparables.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36544" y="6080760"/>
            <a:ext cx="1271016" cy="320040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6544" y="608076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OECD-aligned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99000" y="608076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9000" y="6080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AI-enabled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05459" y="3063240"/>
            <a:ext cx="777240" cy="777240"/>
          </a:xfrm>
          <a:prstGeom prst="ellipse">
            <a:avLst/>
          </a:prstGeom>
          <a:solidFill>
            <a:srgbClr val="0D1B2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5459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33008" y="4023360"/>
            <a:ext cx="252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WEEKS 4–8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3008" y="4297680"/>
            <a:ext cx="252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5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Document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33008" y="4800600"/>
            <a:ext cx="2522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Master file, Local files and Country-by-Country Reporting, drafted to local-country regulatory requirements in every jurisdiction you operate.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33008" y="6080760"/>
            <a:ext cx="1705356" cy="320040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3008" y="6080760"/>
            <a:ext cx="17053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Locally compliant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29804" y="6080760"/>
            <a:ext cx="1618488" cy="320040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9804" y="6080760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Partner-reviewed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01923" y="3063240"/>
            <a:ext cx="777240" cy="777240"/>
          </a:xfrm>
          <a:prstGeom prst="ellipse">
            <a:avLst/>
          </a:prstGeom>
          <a:solidFill>
            <a:srgbClr val="0D1B2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01923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029471" y="4023360"/>
            <a:ext cx="252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ONGOING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29471" y="4297680"/>
            <a:ext cx="252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5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Support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29471" y="4800600"/>
            <a:ext cx="2522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Tax-audit defence, controversy support, refreshes on change — and interim placement when your own team needs an extra set of hands.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29471" y="6080760"/>
            <a:ext cx="1357884" cy="320040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29471" y="6080760"/>
            <a:ext cx="13578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 defence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478795" y="6080760"/>
            <a:ext cx="1879092" cy="320040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78795" y="6080760"/>
            <a:ext cx="1879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Interim specialists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  ·  Your trusted transfer pricing partner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D1B2D"/>
          </a:solidFill>
          <a:ln w="12700">
            <a:solidFill>
              <a:srgbClr val="0D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0" y="-1828800"/>
            <a:ext cx="3657600" cy="3657600"/>
          </a:xfrm>
          <a:prstGeom prst="ellipse">
            <a:avLst/>
          </a:prstGeom>
          <a:solidFill>
            <a:srgbClr val="1FA84A">
              <a:alpha val="12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HIGHLIGHTED PROJECT ·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 · Netherlands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Group-wide TP policy for a global fintech.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TP Policy Design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4273F"/>
          </a:solidFill>
          <a:ln w="12700">
            <a:solidFill>
              <a:srgbClr val="1427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Payments · Fintech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6126480"/>
            <a:ext cx="822960" cy="36576"/>
          </a:xfrm>
          <a:prstGeom prst="rect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217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502920" cy="502920"/>
          </a:xfrm>
          <a:prstGeom prst="ellipse">
            <a:avLst/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5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1234440"/>
            <a:ext cx="5836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15000" y="1554480"/>
            <a:ext cx="58366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 Placeholder — brief description of the client situation: group structure, core flows and the regulatory pressure that triggered the review.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880360"/>
            <a:ext cx="502920" cy="502920"/>
          </a:xfrm>
          <a:prstGeom prst="ellipse">
            <a:avLst/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5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2926080"/>
            <a:ext cx="5836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15000" y="3246120"/>
            <a:ext cx="58366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 Placeholder — what we did: functional mapping, benchmarking, intercompany framework design covering licensing and intra-group services. 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4572000"/>
            <a:ext cx="502920" cy="502920"/>
          </a:xfrm>
          <a:prstGeom prst="ellipse">
            <a:avLst/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5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4617720"/>
            <a:ext cx="5836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RESULTS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15000" y="4937760"/>
            <a:ext cx="58366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 Placeholder — quantifiable outcome: e.g., policy adopted across N jurisdictions, successful audit defence, documentation cycle X% faster. 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  ·  Your trusted transfer pricing partner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D1B2D"/>
          </a:solidFill>
          <a:ln w="12700">
            <a:solidFill>
              <a:srgbClr val="0D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0" y="-1828800"/>
            <a:ext cx="3657600" cy="3657600"/>
          </a:xfrm>
          <a:prstGeom prst="ellipse">
            <a:avLst/>
          </a:prstGeom>
          <a:solidFill>
            <a:srgbClr val="1FA84A">
              <a:alpha val="12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HIGHLIGHTED PROJECT ·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London · United Kingdom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HMRC audit defence for a mid-size FMCG.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 Defence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4273F"/>
          </a:solidFill>
          <a:ln w="12700">
            <a:solidFill>
              <a:srgbClr val="1427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FMCG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6126480"/>
            <a:ext cx="822960" cy="36576"/>
          </a:xfrm>
          <a:prstGeom prst="rect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217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502920" cy="502920"/>
          </a:xfrm>
          <a:prstGeom prst="ellipse">
            <a:avLst/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5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1234440"/>
            <a:ext cx="5836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15000" y="1554480"/>
            <a:ext cx="58366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 Placeholder — context of the HMRC enquiry, period under review, intercompany flows in scope.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880360"/>
            <a:ext cx="502920" cy="502920"/>
          </a:xfrm>
          <a:prstGeom prst="ellipse">
            <a:avLst/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5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2926080"/>
            <a:ext cx="5836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15000" y="3246120"/>
            <a:ext cx="58366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 Placeholder — early engagement with HMRC, position papers, economic analysis supporting the existing TP set-up. 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4572000"/>
            <a:ext cx="502920" cy="502920"/>
          </a:xfrm>
          <a:prstGeom prst="ellipse">
            <a:avLst/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5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4617720"/>
            <a:ext cx="5836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RESULTS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15000" y="4937760"/>
            <a:ext cx="58366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 Placeholder — quantifiable outcome: enquiry closed favourably, £X of proposed adjustment avoided, no penalty. 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  ·  Your trusted transfer pricing partner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1FA84A">
              <a:alpha val="7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1FA84A">
              <a:alpha val="10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RECENT ENGAGEMENTS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Amsterdam-based, working internationally.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 engagements · 12 cities · scoped out of Amsterdam, delivered wherever they are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4023360"/>
            <a:ext cx="162578" cy="-1548565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172200" y="4023360"/>
            <a:ext cx="1321685" cy="-1572969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172200" y="4023360"/>
            <a:ext cx="3130726" cy="-847695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172200" y="4023360"/>
            <a:ext cx="3073684" cy="686326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172200" y="4023360"/>
            <a:ext cx="2283226" cy="1713188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172200" y="4023360"/>
            <a:ext cx="986516" cy="2034761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172200" y="4023360"/>
            <a:ext cx="-323919" cy="1530864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172200" y="4023360"/>
            <a:ext cx="-2283226" cy="1713188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72200" y="4023360"/>
            <a:ext cx="-3130726" cy="847695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172200" y="4023360"/>
            <a:ext cx="-2404830" cy="-175329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172200" y="4023360"/>
            <a:ext cx="-2977748" cy="-1550586"/>
          </a:xfrm>
          <a:prstGeom prst="line">
            <a:avLst/>
          </a:prstGeom>
          <a:noFill/>
          <a:ln w="12700">
            <a:solidFill>
              <a:srgbClr val="1FA84A">
                <a:alpha val="55000"/>
              </a:srgbClr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243338" y="2383355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1938" y="220047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COPENHAGEN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71938" y="2456507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 Defence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2445" y="2358951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1045" y="2176071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STOCKHOLM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1045" y="2432103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Master File 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211486" y="3084225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0086" y="290134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TOKYO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40086" y="3157377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Local File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54444" y="4618246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83044" y="443536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DUBAI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83044" y="469139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Valuation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63986" y="5645108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2586" y="54622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 CHI MINH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92586" y="57182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Profit Attribution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67276" y="5966681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5876" y="5783801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SYDNEY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95876" y="6039833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Profit Attribution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56841" y="5462784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99441" y="5279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FRANKFURT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99441" y="553593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 Support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97534" y="5645108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40134" y="54622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MEXICO CITY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40134" y="57182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Local File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50034" y="4779615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2634" y="459673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NEW YORK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92634" y="4852767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Benchmarking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75930" y="3756591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18530" y="3573711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LONDON  ×2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618530" y="3829743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 Defence · Master File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03012" y="2381334"/>
            <a:ext cx="182880" cy="18288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5612" y="219845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SAN JOSE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45612" y="245448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APA Support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52160" y="3703320"/>
            <a:ext cx="640080" cy="640080"/>
          </a:xfrm>
          <a:prstGeom prst="ellipse">
            <a:avLst/>
          </a:prstGeom>
          <a:solidFill>
            <a:srgbClr val="1FA84A">
              <a:alpha val="25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71032" y="3822192"/>
            <a:ext cx="402336" cy="402336"/>
          </a:xfrm>
          <a:prstGeom prst="ellipse">
            <a:avLst/>
          </a:prstGeom>
          <a:solidFill>
            <a:srgbClr val="1FA84A">
              <a:alpha val="50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53328" y="390448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A8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4340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 · HQ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611880" y="46817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engagements · TP Policy · Financial Transactions · TP Diagnostics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0080" y="6126480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A8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61081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HQ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371600" y="6126480"/>
            <a:ext cx="137160" cy="137160"/>
          </a:xfrm>
          <a:prstGeom prst="ellipse">
            <a:avLst/>
          </a:prstGeom>
          <a:solidFill>
            <a:srgbClr val="3FBB65"/>
          </a:solidFill>
          <a:ln w="12700">
            <a:solidFill>
              <a:srgbClr val="3FBB6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54480" y="6108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Engagement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  ·  Your trusted transfer pricing partner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C4868">
              <a:alpha val="5000"/>
            </a:srgbClr>
          </a:solidFill>
          <a:ln w="12700">
            <a:solidFill>
              <a:srgbClr val="2C486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-1371600"/>
            <a:ext cx="3657600" cy="3657600"/>
          </a:xfrm>
          <a:prstGeom prst="ellipse">
            <a:avLst/>
          </a:prstGeom>
          <a:solidFill>
            <a:srgbClr val="1FA84A">
              <a:alpha val="6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0D1B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Industries we serve.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43D4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focused practice, applied across the sectors where transfer pricing complexity is highest.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ENGAGEMENTS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Across recent projects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517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JURISDICTIONS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Amsterdam outward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6344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INDUSTRIES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Where we have depth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911535" cy="18288"/>
          </a:xfrm>
          <a:prstGeom prst="rect">
            <a:avLst/>
          </a:prstGeom>
          <a:solidFill>
            <a:srgbClr val="DEE2E8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INDUSTRIES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12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Construction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39696" y="5212080"/>
            <a:ext cx="1892808" cy="384048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521208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Consumer &amp; Retail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42232" y="5212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5212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FMCG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40680" y="521208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521208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Food Delivery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40880" y="5212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5212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Industrial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39328" y="5212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5212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Payments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637776" y="5212080"/>
            <a:ext cx="1892808" cy="384048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37776" y="521208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SaaS &amp; Technology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77900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BF8EE"/>
          </a:solidFill>
          <a:ln w="12700">
            <a:solidFill>
              <a:srgbClr val="EBF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7790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B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Travel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  ·  Your trusted transfer pricing partner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1FA84A">
              <a:alpha val="12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1FA84A">
              <a:alpha val="7000"/>
            </a:srgbClr>
          </a:solidFill>
          <a:ln w="12700">
            <a:solidFill>
              <a:srgbClr val="1FA8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91295" y="914400"/>
            <a:ext cx="2377440" cy="2377440"/>
          </a:xfrm>
          <a:prstGeom prst="ellipse">
            <a:avLst/>
          </a:prstGeom>
          <a:solidFill>
            <a:srgbClr val="0D1B2D">
              <a:alpha val="0"/>
            </a:srgbClr>
          </a:solidFill>
          <a:ln w="9525">
            <a:solidFill>
              <a:srgbClr val="D6DEE9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WE'D LOVE TO HEAR FROM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Get your transfer</a:t>
            </a:r>
            <a:endParaRPr lang="en-US" sz="5800" dirty="0"/>
          </a:p>
          <a:p>
            <a:pPr indent="0" marL="0">
              <a:buNone/>
            </a:pPr>
            <a:r>
              <a:rPr lang="en-US" sz="5800" b="1" spc="-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pricing </a:t>
            </a:r>
            <a:pPr indent="0" marL="0">
              <a:buNone/>
            </a:pPr>
            <a:r>
              <a:rPr lang="en-US" sz="5800" b="1" spc="-200" kern="0" dirty="0">
                <a:solidFill>
                  <a:srgbClr val="3FBB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done.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short note is usually enough to start. Tell us what you're working on — a new structure, a documentation cycle, or a question from a tax authority — and we'll come back with a clear next step, typically within a working day.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36576" cy="1280160"/>
          </a:xfrm>
          <a:prstGeom prst="rect">
            <a:avLst/>
          </a:prstGeom>
          <a:solidFill>
            <a:srgbClr val="1FA84A"/>
          </a:solidFill>
          <a:ln w="12700">
            <a:solidFill>
              <a:srgbClr val="1FA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ADDRESS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Saskia van Uijlenburgkade 104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Netherlands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</a:t>
            </a:r>
            <a:endParaRPr lang="en-US" sz="95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3474720" y="5303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info@inrange.nl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6CCE8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PHONE</a:t>
            </a:r>
            <a:endParaRPr lang="en-US" sz="950" dirty="0"/>
          </a:p>
        </p:txBody>
      </p:sp>
      <p:sp>
        <p:nvSpPr>
          <p:cNvPr id="14" name="Text 12">
            <a:hlinkClick r:id="rId2" tooltip=""/>
          </p:cNvPr>
          <p:cNvSpPr/>
          <p:nvPr/>
        </p:nvSpPr>
        <p:spPr>
          <a:xfrm>
            <a:off x="6080760" y="5303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+31 648 44 6063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905695" y="3474720"/>
            <a:ext cx="1920240" cy="2286000"/>
          </a:xfrm>
          <a:prstGeom prst="roundRect">
            <a:avLst>
              <a:gd name="adj" fmla="val 6667"/>
            </a:avLst>
          </a:prstGeom>
          <a:solidFill>
            <a:srgbClr val="14273F"/>
          </a:solidFill>
          <a:ln w="12700">
            <a:solidFill>
              <a:srgbClr val="2C4868"/>
            </a:solidFill>
            <a:prstDash val="solid"/>
          </a:ln>
        </p:spPr>
      </p:sp>
      <p:pic>
        <p:nvPicPr>
          <p:cNvPr id="16" name="Image 0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749040"/>
            <a:ext cx="1371600" cy="1371600"/>
          </a:xfrm>
          <a:prstGeom prst="rect">
            <a:avLst/>
          </a:prstGeom>
        </p:spPr>
      </p:pic>
      <p:sp>
        <p:nvSpPr>
          <p:cNvPr id="17" name="Text 14">
            <a:hlinkClick r:id="rId5" tooltip=""/>
          </p:cNvPr>
          <p:cNvSpPr/>
          <p:nvPr/>
        </p:nvSpPr>
        <p:spPr>
          <a:xfrm>
            <a:off x="9905695" y="5166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inrange.nl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905695" y="5468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Scan to visit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inRange  ·  Your trusted transfer pricing partner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E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inRange Solutions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inRange — Capability Deck</dc:title>
  <dc:subject>PptxGenJS Presentation</dc:subject>
  <dc:creator>inRange Solutions</dc:creator>
  <cp:lastModifiedBy>inRange Solutions</cp:lastModifiedBy>
  <cp:revision>1</cp:revision>
  <dcterms:created xsi:type="dcterms:W3CDTF">2026-04-21T13:29:05Z</dcterms:created>
  <dcterms:modified xsi:type="dcterms:W3CDTF">2026-04-21T13:29:05Z</dcterms:modified>
</cp:coreProperties>
</file>